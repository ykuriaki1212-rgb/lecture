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9" r:id="rId4"/>
    <p:sldId id="258"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12DB3C-69C1-44D4-8D52-7D376D270BC2}" v="8" dt="2026-01-04T03:11:57.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1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kihiro Kuriaki" userId="a7c909f8c7b3d1c8" providerId="LiveId" clId="{342D073B-BBE4-46D3-BE10-D06F975F5290}"/>
    <pc:docChg chg="addSld delSld modSld sldOrd">
      <pc:chgData name="Yukihiro Kuriaki" userId="a7c909f8c7b3d1c8" providerId="LiveId" clId="{342D073B-BBE4-46D3-BE10-D06F975F5290}" dt="2026-01-04T03:14:43.199" v="284" actId="1076"/>
      <pc:docMkLst>
        <pc:docMk/>
      </pc:docMkLst>
      <pc:sldChg chg="addSp modSp new mod">
        <pc:chgData name="Yukihiro Kuriaki" userId="a7c909f8c7b3d1c8" providerId="LiveId" clId="{342D073B-BBE4-46D3-BE10-D06F975F5290}" dt="2026-01-04T03:13:30.435" v="247" actId="1076"/>
        <pc:sldMkLst>
          <pc:docMk/>
          <pc:sldMk cId="3046535983" sldId="256"/>
        </pc:sldMkLst>
        <pc:spChg chg="add mod">
          <ac:chgData name="Yukihiro Kuriaki" userId="a7c909f8c7b3d1c8" providerId="LiveId" clId="{342D073B-BBE4-46D3-BE10-D06F975F5290}" dt="2026-01-04T03:13:30.435" v="247" actId="1076"/>
          <ac:spMkLst>
            <pc:docMk/>
            <pc:sldMk cId="3046535983" sldId="256"/>
            <ac:spMk id="2" creationId="{B31B9B53-ACC4-BDCA-CB53-D31D1F33EB32}"/>
          </ac:spMkLst>
        </pc:spChg>
      </pc:sldChg>
      <pc:sldChg chg="addSp modSp new mod ord">
        <pc:chgData name="Yukihiro Kuriaki" userId="a7c909f8c7b3d1c8" providerId="LiveId" clId="{342D073B-BBE4-46D3-BE10-D06F975F5290}" dt="2026-01-04T03:01:39.797" v="213" actId="14100"/>
        <pc:sldMkLst>
          <pc:docMk/>
          <pc:sldMk cId="1711461719" sldId="257"/>
        </pc:sldMkLst>
        <pc:spChg chg="add mod">
          <ac:chgData name="Yukihiro Kuriaki" userId="a7c909f8c7b3d1c8" providerId="LiveId" clId="{342D073B-BBE4-46D3-BE10-D06F975F5290}" dt="2026-01-04T03:01:39.797" v="213" actId="14100"/>
          <ac:spMkLst>
            <pc:docMk/>
            <pc:sldMk cId="1711461719" sldId="257"/>
            <ac:spMk id="2" creationId="{97AEE2DB-C6A6-8BD8-094A-F95CA30477BE}"/>
          </ac:spMkLst>
        </pc:spChg>
      </pc:sldChg>
      <pc:sldChg chg="new">
        <pc:chgData name="Yukihiro Kuriaki" userId="a7c909f8c7b3d1c8" providerId="LiveId" clId="{342D073B-BBE4-46D3-BE10-D06F975F5290}" dt="2026-01-04T02:53:07.759" v="2" actId="680"/>
        <pc:sldMkLst>
          <pc:docMk/>
          <pc:sldMk cId="1605778366" sldId="258"/>
        </pc:sldMkLst>
      </pc:sldChg>
      <pc:sldChg chg="new del">
        <pc:chgData name="Yukihiro Kuriaki" userId="a7c909f8c7b3d1c8" providerId="LiveId" clId="{342D073B-BBE4-46D3-BE10-D06F975F5290}" dt="2026-01-04T03:02:05.923" v="214" actId="47"/>
        <pc:sldMkLst>
          <pc:docMk/>
          <pc:sldMk cId="1728526848" sldId="259"/>
        </pc:sldMkLst>
      </pc:sldChg>
      <pc:sldChg chg="modSp add mod">
        <pc:chgData name="Yukihiro Kuriaki" userId="a7c909f8c7b3d1c8" providerId="LiveId" clId="{342D073B-BBE4-46D3-BE10-D06F975F5290}" dt="2026-01-04T03:14:43.199" v="284" actId="1076"/>
        <pc:sldMkLst>
          <pc:docMk/>
          <pc:sldMk cId="2214790183" sldId="259"/>
        </pc:sldMkLst>
        <pc:spChg chg="mod">
          <ac:chgData name="Yukihiro Kuriaki" userId="a7c909f8c7b3d1c8" providerId="LiveId" clId="{342D073B-BBE4-46D3-BE10-D06F975F5290}" dt="2026-01-04T03:14:43.199" v="284" actId="1076"/>
          <ac:spMkLst>
            <pc:docMk/>
            <pc:sldMk cId="2214790183" sldId="259"/>
            <ac:spMk id="2" creationId="{AB961D27-F2BB-6287-2F32-5386358431C8}"/>
          </ac:spMkLst>
        </pc:spChg>
      </pc:sldChg>
      <pc:sldChg chg="new del">
        <pc:chgData name="Yukihiro Kuriaki" userId="a7c909f8c7b3d1c8" providerId="LiveId" clId="{342D073B-BBE4-46D3-BE10-D06F975F5290}" dt="2026-01-04T03:02:05.923" v="214" actId="47"/>
        <pc:sldMkLst>
          <pc:docMk/>
          <pc:sldMk cId="1633206985"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F34831-923F-F43A-381C-85E0AE18054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2CE5965-2EE3-D959-C349-88A35FEB70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B7CF5F-013E-E3F6-C16B-1298D1B996A9}"/>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680388A3-BD0F-71FD-B80D-EF5AB179787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7C7C9F4-EC65-8DA3-43A9-B5AEA3F80DEC}"/>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1521020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29F7F1-C110-C2DA-3798-E6F46E24F8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AD17C6-EF84-F545-70CC-174BD816DF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80A6DE-41C5-D2C6-4D09-4BE7F7569292}"/>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85D1181F-B7B0-5A2C-80C7-CD20885990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21781D-1D24-ACD5-F59B-7CCE7EA25F92}"/>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3927831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AE9A1-4B0D-CB9B-5BAE-557158E5CCE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16EE16-FAB4-1B29-D831-1006647BE8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B1C5A75-7662-F065-D728-F6D7EFED6085}"/>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94C28C3C-FE2A-107D-C96D-52D986EFD1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8C8A2A-AC92-F6BF-A937-C149B73F05A0}"/>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3119474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F92CF-EA33-5495-76E2-2D3A274E14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AB141C-29BE-7E41-7508-1BC17EB2010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61BFB77-AC60-21F1-F060-C89F3C724E0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3B1E480-C118-5836-F1CC-9D4D93080A17}"/>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6" name="フッター プレースホルダー 5">
            <a:extLst>
              <a:ext uri="{FF2B5EF4-FFF2-40B4-BE49-F238E27FC236}">
                <a16:creationId xmlns:a16="http://schemas.microsoft.com/office/drawing/2014/main" id="{F20D906A-1491-5069-A8CB-96B53A360B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340BC6-3579-B6A1-7085-F011A15D71DB}"/>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930901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18FEC5-E4B2-6731-6D33-164116D9F93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0FBCC4-B25C-7B1C-E75F-217C582F8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41573B6-7FF5-DD24-1B4E-D9E43D466EB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EAD6C2C-2807-D441-8E15-7595F9CFA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1DE688D-2535-D07E-CD09-6DFC8128AA4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DC861D1-CEB1-39AE-E7C7-C7C6EF36D276}"/>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8" name="フッター プレースホルダー 7">
            <a:extLst>
              <a:ext uri="{FF2B5EF4-FFF2-40B4-BE49-F238E27FC236}">
                <a16:creationId xmlns:a16="http://schemas.microsoft.com/office/drawing/2014/main" id="{C1C3404F-DE47-BFDC-2C93-E76254BFEEB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EC46B21-9098-D1C8-AA8A-C5E33CC369BF}"/>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2909503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885769-071D-17DD-12CA-009FB86FDC7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21977C8-B057-EBAA-2676-6E409AB833D4}"/>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4" name="フッター プレースホルダー 3">
            <a:extLst>
              <a:ext uri="{FF2B5EF4-FFF2-40B4-BE49-F238E27FC236}">
                <a16:creationId xmlns:a16="http://schemas.microsoft.com/office/drawing/2014/main" id="{54A5BF67-4CC4-D130-A93E-BFD817A72BA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97A2284-8B6B-DA76-947D-F09F77FB08DD}"/>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416986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3F81A26-55DE-AD9A-11AE-589843349AC4}"/>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3" name="フッター プレースホルダー 2">
            <a:extLst>
              <a:ext uri="{FF2B5EF4-FFF2-40B4-BE49-F238E27FC236}">
                <a16:creationId xmlns:a16="http://schemas.microsoft.com/office/drawing/2014/main" id="{D1B8BACD-5458-9BAC-693C-273BDEB9CBB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2FBA475-33DE-BF92-84A4-0DD12BBC3C22}"/>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275891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A54A23-69C0-D4C5-24C5-6615F1071B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4C62504-BF1D-4CC2-3FAB-16C8E8A389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0C9775B-2A90-5A59-A26A-46BFDB6A5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52C4996-5DF0-659C-7AFF-DE751C7DAED1}"/>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6" name="フッター プレースホルダー 5">
            <a:extLst>
              <a:ext uri="{FF2B5EF4-FFF2-40B4-BE49-F238E27FC236}">
                <a16:creationId xmlns:a16="http://schemas.microsoft.com/office/drawing/2014/main" id="{6197DAD8-C675-1DDE-0E39-F88F63942B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4418B6-7C5B-F6E3-9041-FB1CDAFF0C5A}"/>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3682891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1CAC8A-02AB-C16C-D4A7-A8FE3965022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215FF4D-1192-47EF-31A6-14F2E280F3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82D63CD-3F6A-8001-F69E-5E2EE9DAB2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86DF207-D5CE-2965-084A-DFEE368B8AA6}"/>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6" name="フッター プレースホルダー 5">
            <a:extLst>
              <a:ext uri="{FF2B5EF4-FFF2-40B4-BE49-F238E27FC236}">
                <a16:creationId xmlns:a16="http://schemas.microsoft.com/office/drawing/2014/main" id="{EE2E9808-2D7C-6C9B-98C2-D3050D10516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4355C65-7F1C-2599-9866-F397C1927234}"/>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1638681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F3D8B6-6A66-0697-2BEE-5AF044B7098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2494DCD-5BD0-FE1E-EAFD-6648D100563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96E8B9-187E-D4FD-2ADF-915101277B7E}"/>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AE6A4339-6AE1-D87B-0CD4-1162DE7BE5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F31337-DE99-C5CB-79B3-A23CFFB98079}"/>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445494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8592D5A-5A10-9CB7-5831-FE3F5A8078E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8CE0F4-3170-C705-9EF7-770FBE11CF6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E12A0B6-494A-390E-BE28-E940D2934C87}"/>
              </a:ext>
            </a:extLst>
          </p:cNvPr>
          <p:cNvSpPr>
            <a:spLocks noGrp="1"/>
          </p:cNvSpPr>
          <p:nvPr>
            <p:ph type="dt" sz="half" idx="10"/>
          </p:nvPr>
        </p:nvSpPr>
        <p:spPr/>
        <p:txBody>
          <a:body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7FF70128-21D0-A006-5A02-56C402CC39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B4AE96-9802-6234-A874-3AF6B8F7AA93}"/>
              </a:ext>
            </a:extLst>
          </p:cNvPr>
          <p:cNvSpPr>
            <a:spLocks noGrp="1"/>
          </p:cNvSpPr>
          <p:nvPr>
            <p:ph type="sldNum" sz="quarter" idx="12"/>
          </p:nvPr>
        </p:nvSpPr>
        <p:spPr/>
        <p:txBody>
          <a:body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3688462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754347E-13A8-D42B-A22A-94C60ED934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3962DFF-D98A-2A0C-B01F-014DD2E9D7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927A125-7542-FA8A-578C-DDA593F524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CD4B7D-17DB-49F4-A1E9-7448C3E3DF7C}" type="datetimeFigureOut">
              <a:rPr kumimoji="1" lang="ja-JP" altLang="en-US" smtClean="0"/>
              <a:t>2026/1/4</a:t>
            </a:fld>
            <a:endParaRPr kumimoji="1" lang="ja-JP" altLang="en-US"/>
          </a:p>
        </p:txBody>
      </p:sp>
      <p:sp>
        <p:nvSpPr>
          <p:cNvPr id="5" name="フッター プレースホルダー 4">
            <a:extLst>
              <a:ext uri="{FF2B5EF4-FFF2-40B4-BE49-F238E27FC236}">
                <a16:creationId xmlns:a16="http://schemas.microsoft.com/office/drawing/2014/main" id="{6E215FDB-518D-6DA4-C66C-5250C5541F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316F399-2981-14AC-EC0B-FFD854DC26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299A98-EC97-4178-AC6B-A130DCB94737}" type="slidenum">
              <a:rPr kumimoji="1" lang="ja-JP" altLang="en-US" smtClean="0"/>
              <a:t>‹#›</a:t>
            </a:fld>
            <a:endParaRPr kumimoji="1" lang="ja-JP" altLang="en-US"/>
          </a:p>
        </p:txBody>
      </p:sp>
    </p:spTree>
    <p:extLst>
      <p:ext uri="{BB962C8B-B14F-4D97-AF65-F5344CB8AC3E}">
        <p14:creationId xmlns:p14="http://schemas.microsoft.com/office/powerpoint/2010/main" val="3522460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7AEE2DB-C6A6-8BD8-094A-F95CA30477BE}"/>
              </a:ext>
            </a:extLst>
          </p:cNvPr>
          <p:cNvSpPr txBox="1"/>
          <p:nvPr/>
        </p:nvSpPr>
        <p:spPr>
          <a:xfrm>
            <a:off x="173256" y="115503"/>
            <a:ext cx="12018744" cy="6986528"/>
          </a:xfrm>
          <a:prstGeom prst="rect">
            <a:avLst/>
          </a:prstGeom>
          <a:noFill/>
        </p:spPr>
        <p:txBody>
          <a:bodyPr wrap="square" rtlCol="0">
            <a:spAutoFit/>
          </a:bodyPr>
          <a:lstStyle/>
          <a:p>
            <a:r>
              <a:rPr lang="ja-JP" altLang="en-US" sz="1600" b="1" dirty="0"/>
              <a:t>三晃社事件の概要</a:t>
            </a:r>
          </a:p>
          <a:p>
            <a:r>
              <a:rPr lang="ja-JP" altLang="en-US" sz="1600" dirty="0"/>
              <a:t>広告代理店「三晃社」に勤務していた労働者が退職し、同業他社へ転職しました。その退職金を半額にすることが有効か争われた事件</a:t>
            </a:r>
          </a:p>
          <a:p>
            <a:r>
              <a:rPr lang="ja-JP" altLang="en-US" sz="1600" b="1" dirty="0"/>
              <a:t>会社の規定</a:t>
            </a:r>
            <a:endParaRPr lang="en-US" altLang="ja-JP" sz="1600" b="1" dirty="0"/>
          </a:p>
          <a:p>
            <a:r>
              <a:rPr lang="ja-JP" altLang="en-US" sz="1600" dirty="0"/>
              <a:t>就業規則（退職金規定）に、「退職後、一定期間内に同業他社に就職した場合は、自己都合退職の場合の退職金の半額しか支給しない（または返還させる）」という定めがありました。</a:t>
            </a:r>
          </a:p>
          <a:p>
            <a:r>
              <a:rPr lang="ja-JP" altLang="en-US" sz="1600" b="1" dirty="0"/>
              <a:t>争点</a:t>
            </a:r>
            <a:endParaRPr lang="en-US" altLang="ja-JP" sz="1600" b="1" dirty="0"/>
          </a:p>
          <a:p>
            <a:r>
              <a:rPr lang="en-US" altLang="ja-JP" sz="1600" dirty="0"/>
              <a:t>1. </a:t>
            </a:r>
            <a:r>
              <a:rPr lang="ja-JP" altLang="en-US" sz="1600" dirty="0"/>
              <a:t>この規定は、憲法が保障する**「職業選択の自由」を不当に制限し、公序良俗に反して無効ではないか？ </a:t>
            </a:r>
            <a:r>
              <a:rPr lang="en-US" altLang="ja-JP" sz="1600" dirty="0"/>
              <a:t>2. </a:t>
            </a:r>
            <a:r>
              <a:rPr lang="ja-JP" altLang="en-US" sz="1600" dirty="0"/>
              <a:t>労働基準法の「賠償予定の禁止（</a:t>
            </a:r>
            <a:r>
              <a:rPr lang="en-US" altLang="ja-JP" sz="1600" dirty="0"/>
              <a:t>16</a:t>
            </a:r>
            <a:r>
              <a:rPr lang="ja-JP" altLang="en-US" sz="1600" dirty="0"/>
              <a:t>条）」や「全額払いの原則（</a:t>
            </a:r>
            <a:r>
              <a:rPr lang="en-US" altLang="ja-JP" sz="1600" dirty="0"/>
              <a:t>24</a:t>
            </a:r>
            <a:r>
              <a:rPr lang="ja-JP" altLang="en-US" sz="1600" dirty="0"/>
              <a:t>条）」**に違反しないか？</a:t>
            </a:r>
          </a:p>
          <a:p>
            <a:r>
              <a:rPr lang="en-US" altLang="ja-JP" sz="1600" dirty="0"/>
              <a:t>2. </a:t>
            </a:r>
            <a:r>
              <a:rPr lang="ja-JP" altLang="en-US" sz="1600" dirty="0"/>
              <a:t>判旨（裁判所の判断）</a:t>
            </a:r>
          </a:p>
          <a:p>
            <a:r>
              <a:rPr lang="ja-JP" altLang="en-US" sz="1600" dirty="0"/>
              <a:t>最高裁は、この規定を**「有効」**と認めました。</a:t>
            </a:r>
          </a:p>
          <a:p>
            <a:r>
              <a:rPr lang="ja-JP" altLang="en-US" sz="1600" b="1" dirty="0"/>
              <a:t>職業選択の自由について</a:t>
            </a:r>
            <a:endParaRPr lang="en-US" altLang="ja-JP" sz="1600" b="1" dirty="0"/>
          </a:p>
          <a:p>
            <a:r>
              <a:rPr lang="ja-JP" altLang="en-US" sz="1600" dirty="0"/>
              <a:t> 同業他社への再就職をある程度の期間制限することは、企業の正当な利益（営業秘密の保持など）を守るために合理性がある。退職金が半額になるという不利益があるとしても、それだけで「職業選択の自由を不当に拘束するもの」とは言えない。</a:t>
            </a:r>
          </a:p>
          <a:p>
            <a:r>
              <a:rPr lang="ja-JP" altLang="en-US" sz="1600" b="1" dirty="0"/>
              <a:t>退職金の性質について</a:t>
            </a:r>
            <a:endParaRPr lang="en-US" altLang="ja-JP" sz="1600" b="1" dirty="0"/>
          </a:p>
          <a:p>
            <a:r>
              <a:rPr lang="ja-JP" altLang="en-US" sz="1600" dirty="0"/>
              <a:t>退職金には「賃金の後払い」だけでなく、長年の勤務に対する**「功労報奨」**としての性格がある。同業他社への転職は、これまでの功労を減殺（マイナス）させる行為とみなせるため、支給額を制限することに合理的な理由がある。</a:t>
            </a:r>
          </a:p>
          <a:p>
            <a:r>
              <a:rPr lang="ja-JP" altLang="en-US" sz="1600" b="1" dirty="0"/>
              <a:t>労働基準法違反について</a:t>
            </a:r>
            <a:endParaRPr lang="en-US" altLang="ja-JP" sz="1600" b="1" dirty="0"/>
          </a:p>
          <a:p>
            <a:r>
              <a:rPr lang="ja-JP" altLang="en-US" sz="1600" dirty="0"/>
              <a:t>あらかじめ損害賠償額を決めておく（</a:t>
            </a:r>
            <a:r>
              <a:rPr lang="en-US" altLang="ja-JP" sz="1600" dirty="0"/>
              <a:t>16</a:t>
            </a:r>
            <a:r>
              <a:rPr lang="ja-JP" altLang="en-US" sz="1600" dirty="0"/>
              <a:t>条違反）ものではなく、「最初から半額の権利しか発生しない」という定めであるため、違法ではない。</a:t>
            </a:r>
            <a:endParaRPr lang="en-US" altLang="ja-JP" sz="1600" dirty="0"/>
          </a:p>
          <a:p>
            <a:r>
              <a:rPr lang="ja-JP" altLang="en-US" sz="1600" b="1" dirty="0"/>
              <a:t>まとめ：有効性のポイント</a:t>
            </a:r>
          </a:p>
          <a:p>
            <a:r>
              <a:rPr lang="ja-JP" altLang="en-US" sz="1600" dirty="0"/>
              <a:t>この判決により、以下の条件を満たせば退職金の減額規定は有効となり得ることが示されました。</a:t>
            </a:r>
          </a:p>
          <a:p>
            <a:r>
              <a:rPr lang="ja-JP" altLang="en-US" sz="1600" b="1" dirty="0"/>
              <a:t>・就業規則に明確な規定があること。</a:t>
            </a:r>
            <a:endParaRPr lang="ja-JP" altLang="en-US" sz="1600" dirty="0"/>
          </a:p>
          <a:p>
            <a:r>
              <a:rPr lang="ja-JP" altLang="en-US" sz="1600" b="1" dirty="0"/>
              <a:t>・制限の期間や内容が「ある程度の範囲」で合理的であること。</a:t>
            </a:r>
            <a:endParaRPr lang="ja-JP" altLang="en-US" sz="1600" dirty="0"/>
          </a:p>
          <a:p>
            <a:r>
              <a:rPr lang="ja-JP" altLang="en-US" sz="1600" b="1" dirty="0"/>
              <a:t>・全額没収ではなく「半額」程度の減額にとどまっていること。</a:t>
            </a:r>
            <a:r>
              <a:rPr lang="ja-JP" altLang="en-US" sz="1600" dirty="0"/>
              <a:t> （</a:t>
            </a:r>
            <a:r>
              <a:rPr lang="en-US" altLang="ja-JP" sz="1600" dirty="0"/>
              <a:t>※</a:t>
            </a:r>
            <a:r>
              <a:rPr lang="ja-JP" altLang="en-US" sz="1600" dirty="0"/>
              <a:t>全額不支給の場合は、より厳しい合理性が求められます）</a:t>
            </a:r>
          </a:p>
          <a:p>
            <a:r>
              <a:rPr lang="en-US" altLang="ja-JP" sz="1600" b="1" dirty="0">
                <a:solidFill>
                  <a:srgbClr val="EE0000"/>
                </a:solidFill>
              </a:rPr>
              <a:t>[</a:t>
            </a:r>
            <a:r>
              <a:rPr lang="ja-JP" altLang="en-US" sz="1600" b="1" dirty="0">
                <a:solidFill>
                  <a:srgbClr val="EE0000"/>
                </a:solidFill>
              </a:rPr>
              <a:t>！</a:t>
            </a:r>
            <a:r>
              <a:rPr lang="en-US" altLang="ja-JP" sz="1600" b="1" dirty="0">
                <a:solidFill>
                  <a:srgbClr val="EE0000"/>
                </a:solidFill>
              </a:rPr>
              <a:t>NOTE] </a:t>
            </a:r>
            <a:r>
              <a:rPr lang="ja-JP" altLang="en-US" sz="1600" dirty="0"/>
              <a:t>現在の実務では、単に同業他社に行ったというだけでなく、「顧客を大量に引き抜いた」などの**「著しい背信行為」**があるかどうかが、減額の有効性を分ける重要なポイントとなっています。</a:t>
            </a:r>
          </a:p>
        </p:txBody>
      </p:sp>
    </p:spTree>
    <p:extLst>
      <p:ext uri="{BB962C8B-B14F-4D97-AF65-F5344CB8AC3E}">
        <p14:creationId xmlns:p14="http://schemas.microsoft.com/office/powerpoint/2010/main" val="1711461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31B9B53-ACC4-BDCA-CB53-D31D1F33EB32}"/>
              </a:ext>
            </a:extLst>
          </p:cNvPr>
          <p:cNvSpPr txBox="1"/>
          <p:nvPr/>
        </p:nvSpPr>
        <p:spPr>
          <a:xfrm>
            <a:off x="223457" y="122957"/>
            <a:ext cx="11644493" cy="6494085"/>
          </a:xfrm>
          <a:prstGeom prst="rect">
            <a:avLst/>
          </a:prstGeom>
          <a:noFill/>
        </p:spPr>
        <p:txBody>
          <a:bodyPr wrap="square" rtlCol="0">
            <a:spAutoFit/>
          </a:bodyPr>
          <a:lstStyle/>
          <a:p>
            <a:r>
              <a:rPr lang="ja-JP" altLang="en-US" sz="1600" b="1" dirty="0"/>
              <a:t>営業秘密漏洩の代表的な判例</a:t>
            </a:r>
            <a:r>
              <a:rPr lang="en-US" altLang="ja-JP" sz="1600" b="1" dirty="0"/>
              <a:t>(</a:t>
            </a:r>
            <a:r>
              <a:rPr lang="ja-JP" altLang="en-US" sz="1600" b="1" dirty="0"/>
              <a:t>損害賠償額・結論含む</a:t>
            </a:r>
            <a:r>
              <a:rPr lang="en-US" altLang="ja-JP" sz="1600" b="1" dirty="0"/>
              <a:t>)</a:t>
            </a:r>
          </a:p>
          <a:p>
            <a:endParaRPr lang="en-US" altLang="ja-JP" sz="1600" b="1" dirty="0"/>
          </a:p>
          <a:p>
            <a:r>
              <a:rPr lang="en-US" altLang="ja-JP" sz="1600" b="1" dirty="0"/>
              <a:t>1. </a:t>
            </a:r>
            <a:r>
              <a:rPr lang="ja-JP" altLang="en-US" sz="1600" b="1" dirty="0"/>
              <a:t>新日鐵住金</a:t>
            </a:r>
            <a:r>
              <a:rPr lang="en-US" altLang="ja-JP" sz="1600" b="1" dirty="0"/>
              <a:t>(</a:t>
            </a:r>
            <a:r>
              <a:rPr lang="ja-JP" altLang="en-US" sz="1600" b="1" dirty="0"/>
              <a:t>現</a:t>
            </a:r>
            <a:r>
              <a:rPr lang="en-US" altLang="ja-JP" sz="1600" b="1" dirty="0"/>
              <a:t>:</a:t>
            </a:r>
            <a:r>
              <a:rPr lang="ja-JP" altLang="en-US" sz="1600" b="1" dirty="0"/>
              <a:t>日本製鉄</a:t>
            </a:r>
            <a:r>
              <a:rPr lang="en-US" altLang="ja-JP" sz="1600" b="1" dirty="0"/>
              <a:t>)</a:t>
            </a:r>
            <a:r>
              <a:rPr lang="ja-JP" altLang="en-US" sz="1600" b="1" dirty="0"/>
              <a:t>対</a:t>
            </a:r>
            <a:r>
              <a:rPr lang="en-US" altLang="ja-JP" sz="1600" b="1" dirty="0"/>
              <a:t>POSCO</a:t>
            </a:r>
            <a:r>
              <a:rPr lang="ja-JP" altLang="en-US" sz="1600" b="1" dirty="0"/>
              <a:t>事件</a:t>
            </a:r>
          </a:p>
          <a:p>
            <a:endParaRPr lang="en-US" altLang="ja-JP" sz="1600" b="1" dirty="0"/>
          </a:p>
          <a:p>
            <a:r>
              <a:rPr lang="ja-JP" altLang="en-US" sz="1600" b="1" dirty="0"/>
              <a:t>事件概要</a:t>
            </a:r>
            <a:endParaRPr lang="ja-JP" altLang="en-US" sz="1600" dirty="0"/>
          </a:p>
          <a:p>
            <a:r>
              <a:rPr lang="ja-JP" altLang="en-US" sz="1600" b="1" dirty="0"/>
              <a:t>技術情報</a:t>
            </a:r>
            <a:r>
              <a:rPr lang="en-US" altLang="ja-JP" sz="1600" dirty="0"/>
              <a:t>: </a:t>
            </a:r>
            <a:r>
              <a:rPr lang="ja-JP" altLang="en-US" sz="1600" dirty="0"/>
              <a:t>方向性電磁鋼板</a:t>
            </a:r>
            <a:r>
              <a:rPr lang="en-US" altLang="ja-JP" sz="1600" dirty="0"/>
              <a:t>(</a:t>
            </a:r>
            <a:r>
              <a:rPr lang="ja-JP" altLang="en-US" sz="1600" dirty="0"/>
              <a:t>変圧器の鉄心に使用</a:t>
            </a:r>
            <a:r>
              <a:rPr lang="en-US" altLang="ja-JP" sz="1600" dirty="0"/>
              <a:t>)</a:t>
            </a:r>
            <a:r>
              <a:rPr lang="ja-JP" altLang="en-US" sz="1600" dirty="0"/>
              <a:t>の製造技術</a:t>
            </a:r>
          </a:p>
          <a:p>
            <a:r>
              <a:rPr lang="ja-JP" altLang="en-US" sz="1600" b="1" dirty="0"/>
              <a:t>被告</a:t>
            </a:r>
            <a:r>
              <a:rPr lang="en-US" altLang="ja-JP" sz="1600" dirty="0"/>
              <a:t>: </a:t>
            </a:r>
            <a:r>
              <a:rPr lang="ja-JP" altLang="en-US" sz="1600" dirty="0"/>
              <a:t>韓国</a:t>
            </a:r>
            <a:r>
              <a:rPr lang="en-US" altLang="ja-JP" sz="1600" dirty="0"/>
              <a:t>POSCO</a:t>
            </a:r>
            <a:r>
              <a:rPr lang="ja-JP" altLang="en-US" sz="1600" dirty="0"/>
              <a:t>社および日本人元従業員</a:t>
            </a:r>
          </a:p>
          <a:p>
            <a:r>
              <a:rPr lang="ja-JP" altLang="en-US" sz="1600" b="1" dirty="0"/>
              <a:t>判決</a:t>
            </a:r>
            <a:r>
              <a:rPr lang="en-US" altLang="ja-JP" sz="1600" dirty="0"/>
              <a:t>: </a:t>
            </a:r>
            <a:r>
              <a:rPr lang="ja-JP" altLang="en-US" sz="1600" dirty="0"/>
              <a:t>東京地裁平成</a:t>
            </a:r>
            <a:r>
              <a:rPr lang="en-US" altLang="ja-JP" sz="1600" dirty="0"/>
              <a:t>31</a:t>
            </a:r>
            <a:r>
              <a:rPr lang="ja-JP" altLang="en-US" sz="1600" dirty="0"/>
              <a:t>年</a:t>
            </a:r>
            <a:r>
              <a:rPr lang="en-US" altLang="ja-JP" sz="1600" dirty="0"/>
              <a:t>4</a:t>
            </a:r>
            <a:r>
              <a:rPr lang="ja-JP" altLang="en-US" sz="1600" dirty="0"/>
              <a:t>月</a:t>
            </a:r>
            <a:r>
              <a:rPr lang="en-US" altLang="ja-JP" sz="1600" dirty="0"/>
              <a:t>24</a:t>
            </a:r>
            <a:r>
              <a:rPr lang="ja-JP" altLang="en-US" sz="1600" dirty="0"/>
              <a:t>日、知財高裁令和</a:t>
            </a:r>
            <a:r>
              <a:rPr lang="en-US" altLang="ja-JP" sz="1600" dirty="0"/>
              <a:t>2</a:t>
            </a:r>
            <a:r>
              <a:rPr lang="ja-JP" altLang="en-US" sz="1600" dirty="0"/>
              <a:t>年</a:t>
            </a:r>
            <a:r>
              <a:rPr lang="en-US" altLang="ja-JP" sz="1600" dirty="0"/>
              <a:t>1</a:t>
            </a:r>
            <a:r>
              <a:rPr lang="ja-JP" altLang="en-US" sz="1600" dirty="0"/>
              <a:t>月</a:t>
            </a:r>
            <a:r>
              <a:rPr lang="en-US" altLang="ja-JP" sz="1600" dirty="0"/>
              <a:t>31</a:t>
            </a:r>
            <a:r>
              <a:rPr lang="ja-JP" altLang="en-US" sz="1600" dirty="0"/>
              <a:t>日</a:t>
            </a:r>
          </a:p>
          <a:p>
            <a:r>
              <a:rPr lang="ja-JP" altLang="en-US" sz="1600" b="1" dirty="0"/>
              <a:t>経緯と損害賠償</a:t>
            </a:r>
            <a:endParaRPr lang="ja-JP" altLang="en-US" sz="1600" dirty="0"/>
          </a:p>
          <a:p>
            <a:r>
              <a:rPr lang="ja-JP" altLang="en-US" sz="1600" dirty="0"/>
              <a:t>・</a:t>
            </a:r>
            <a:r>
              <a:rPr lang="en-US" altLang="ja-JP" sz="1600" dirty="0"/>
              <a:t>2012</a:t>
            </a:r>
            <a:r>
              <a:rPr lang="ja-JP" altLang="en-US" sz="1600" dirty="0"/>
              <a:t>年</a:t>
            </a:r>
            <a:r>
              <a:rPr lang="en-US" altLang="ja-JP" sz="1600" dirty="0"/>
              <a:t>:</a:t>
            </a:r>
            <a:r>
              <a:rPr lang="ja-JP" altLang="en-US" sz="1600" dirty="0"/>
              <a:t>新日本製鐵が</a:t>
            </a:r>
            <a:r>
              <a:rPr lang="en-US" altLang="ja-JP" sz="1600" dirty="0"/>
              <a:t>POSCO</a:t>
            </a:r>
            <a:r>
              <a:rPr lang="ja-JP" altLang="en-US" sz="1600" dirty="0"/>
              <a:t>社と元従業員を提訴</a:t>
            </a:r>
            <a:r>
              <a:rPr lang="en-US" altLang="ja-JP" sz="1600" dirty="0"/>
              <a:t>(</a:t>
            </a:r>
            <a:r>
              <a:rPr lang="ja-JP" altLang="en-US" sz="1600" dirty="0"/>
              <a:t>損害賠償</a:t>
            </a:r>
            <a:r>
              <a:rPr lang="en-US" altLang="ja-JP" sz="1600" b="1" dirty="0"/>
              <a:t>986</a:t>
            </a:r>
            <a:r>
              <a:rPr lang="ja-JP" altLang="en-US" sz="1600" b="1" dirty="0"/>
              <a:t>億円</a:t>
            </a:r>
            <a:r>
              <a:rPr lang="ja-JP" altLang="en-US" sz="1600" dirty="0"/>
              <a:t>請求</a:t>
            </a:r>
            <a:r>
              <a:rPr lang="en-US" altLang="ja-JP" sz="1600" dirty="0"/>
              <a:t>)</a:t>
            </a:r>
          </a:p>
          <a:p>
            <a:r>
              <a:rPr lang="ja-JP" altLang="en-US" sz="1600" dirty="0"/>
              <a:t>・</a:t>
            </a:r>
            <a:r>
              <a:rPr lang="en-US" altLang="ja-JP" sz="1600" dirty="0"/>
              <a:t>2015</a:t>
            </a:r>
            <a:r>
              <a:rPr lang="ja-JP" altLang="en-US" sz="1600" dirty="0"/>
              <a:t>年</a:t>
            </a:r>
            <a:r>
              <a:rPr lang="en-US" altLang="ja-JP" sz="1600" dirty="0"/>
              <a:t>:POSCO</a:t>
            </a:r>
            <a:r>
              <a:rPr lang="ja-JP" altLang="en-US" sz="1600" dirty="0"/>
              <a:t>社と</a:t>
            </a:r>
            <a:r>
              <a:rPr lang="ja-JP" altLang="en-US" sz="1600" b="1" dirty="0"/>
              <a:t>和解成立</a:t>
            </a:r>
            <a:r>
              <a:rPr lang="en-US" altLang="ja-JP" sz="1600" b="1" dirty="0"/>
              <a:t>(</a:t>
            </a:r>
            <a:r>
              <a:rPr lang="ja-JP" altLang="en-US" sz="1600" b="1" dirty="0"/>
              <a:t>和解金</a:t>
            </a:r>
            <a:r>
              <a:rPr lang="en-US" altLang="ja-JP" sz="1600" b="1" dirty="0"/>
              <a:t>300</a:t>
            </a:r>
            <a:r>
              <a:rPr lang="ja-JP" altLang="en-US" sz="1600" b="1" dirty="0"/>
              <a:t>億円</a:t>
            </a:r>
            <a:r>
              <a:rPr lang="en-US" altLang="ja-JP" sz="1600" b="1" dirty="0"/>
              <a:t>)</a:t>
            </a:r>
            <a:r>
              <a:rPr lang="ja-JP" altLang="en-US" sz="1600" dirty="0"/>
              <a:t>、会社間訴訟は取り下げ</a:t>
            </a:r>
          </a:p>
          <a:p>
            <a:r>
              <a:rPr lang="ja-JP" altLang="en-US" sz="1600" dirty="0"/>
              <a:t>・元従業員訴訟</a:t>
            </a:r>
            <a:r>
              <a:rPr lang="en-US" altLang="ja-JP" sz="1600" dirty="0"/>
              <a:t>:</a:t>
            </a:r>
            <a:r>
              <a:rPr lang="ja-JP" altLang="en-US" sz="1600" dirty="0"/>
              <a:t>地裁・高裁とも原告勝訴、</a:t>
            </a:r>
            <a:r>
              <a:rPr lang="ja-JP" altLang="en-US" sz="1600" b="1" dirty="0"/>
              <a:t>損害賠償約</a:t>
            </a:r>
            <a:r>
              <a:rPr lang="en-US" altLang="ja-JP" sz="1600" b="1" dirty="0"/>
              <a:t>10</a:t>
            </a:r>
            <a:r>
              <a:rPr lang="ja-JP" altLang="en-US" sz="1600" b="1" dirty="0"/>
              <a:t>億</a:t>
            </a:r>
            <a:r>
              <a:rPr lang="en-US" altLang="ja-JP" sz="1600" b="1" dirty="0"/>
              <a:t>2,300</a:t>
            </a:r>
            <a:r>
              <a:rPr lang="ja-JP" altLang="en-US" sz="1600" b="1" dirty="0"/>
              <a:t>万円</a:t>
            </a:r>
            <a:r>
              <a:rPr lang="ja-JP" altLang="en-US" sz="1600" dirty="0"/>
              <a:t>を命令</a:t>
            </a:r>
          </a:p>
          <a:p>
            <a:r>
              <a:rPr lang="ja-JP" altLang="en-US" sz="1600" b="1" dirty="0"/>
              <a:t>結論</a:t>
            </a:r>
            <a:endParaRPr lang="ja-JP" altLang="en-US" sz="1600" dirty="0"/>
          </a:p>
          <a:p>
            <a:r>
              <a:rPr lang="ja-JP" altLang="en-US" sz="1600" dirty="0"/>
              <a:t>・営業秘密の不正取得・使用を認定</a:t>
            </a:r>
          </a:p>
          <a:p>
            <a:r>
              <a:rPr lang="ja-JP" altLang="en-US" sz="1600" dirty="0"/>
              <a:t>・差止請求、データ廃棄請求、損害賠償請求すべて認容</a:t>
            </a:r>
          </a:p>
          <a:p>
            <a:r>
              <a:rPr lang="ja-JP" altLang="en-US" sz="1600" dirty="0"/>
              <a:t>・日本最大級の営業秘密漏洩事件として実務に大きな影響</a:t>
            </a:r>
            <a:endParaRPr lang="en-US" altLang="ja-JP" sz="1600" dirty="0"/>
          </a:p>
          <a:p>
            <a:endParaRPr lang="ja-JP" altLang="en-US" sz="1600" dirty="0"/>
          </a:p>
          <a:p>
            <a:r>
              <a:rPr lang="en-US" altLang="ja-JP" sz="1600" b="1" dirty="0"/>
              <a:t>2. </a:t>
            </a:r>
            <a:r>
              <a:rPr lang="ja-JP" altLang="en-US" sz="1600" b="1" dirty="0"/>
              <a:t>エフ・ジェー・ネクスト事件</a:t>
            </a:r>
            <a:r>
              <a:rPr lang="en-US" altLang="ja-JP" sz="1600" b="1" dirty="0"/>
              <a:t>(</a:t>
            </a:r>
            <a:r>
              <a:rPr lang="ja-JP" altLang="en-US" sz="1600" b="1" dirty="0"/>
              <a:t>東京地裁平成</a:t>
            </a:r>
            <a:r>
              <a:rPr lang="en-US" altLang="ja-JP" sz="1600" b="1" dirty="0"/>
              <a:t>23</a:t>
            </a:r>
            <a:r>
              <a:rPr lang="ja-JP" altLang="en-US" sz="1600" b="1" dirty="0"/>
              <a:t>年</a:t>
            </a:r>
            <a:r>
              <a:rPr lang="en-US" altLang="ja-JP" sz="1600" b="1" dirty="0"/>
              <a:t>11</a:t>
            </a:r>
            <a:r>
              <a:rPr lang="ja-JP" altLang="en-US" sz="1600" b="1" dirty="0"/>
              <a:t>月</a:t>
            </a:r>
            <a:r>
              <a:rPr lang="en-US" altLang="ja-JP" sz="1600" b="1" dirty="0"/>
              <a:t>8</a:t>
            </a:r>
            <a:r>
              <a:rPr lang="ja-JP" altLang="en-US" sz="1600" b="1" dirty="0"/>
              <a:t>日</a:t>
            </a:r>
            <a:r>
              <a:rPr lang="en-US" altLang="ja-JP" sz="1600" b="1" dirty="0"/>
              <a:t>)</a:t>
            </a:r>
          </a:p>
          <a:p>
            <a:endParaRPr lang="en-US" altLang="ja-JP" sz="1600" b="1" dirty="0"/>
          </a:p>
          <a:p>
            <a:r>
              <a:rPr lang="ja-JP" altLang="en-US" sz="1600" b="1" dirty="0"/>
              <a:t>事件概要</a:t>
            </a:r>
            <a:endParaRPr lang="ja-JP" altLang="en-US" sz="1600" dirty="0"/>
          </a:p>
          <a:p>
            <a:r>
              <a:rPr lang="ja-JP" altLang="en-US" sz="1600" dirty="0"/>
              <a:t>・投資用マンション販売会社の元営業社員が顧客情報を不正取得・使用</a:t>
            </a:r>
          </a:p>
          <a:p>
            <a:r>
              <a:rPr lang="ja-JP" altLang="en-US" sz="1600" dirty="0"/>
              <a:t>・退職後に設立した会社で顧客に接触し、賃貸管理契約を奪取</a:t>
            </a:r>
          </a:p>
          <a:p>
            <a:r>
              <a:rPr lang="ja-JP" altLang="en-US" sz="1600" b="1" dirty="0"/>
              <a:t>損害賠償と結論</a:t>
            </a:r>
            <a:endParaRPr lang="ja-JP" altLang="en-US" sz="1600" dirty="0"/>
          </a:p>
          <a:p>
            <a:r>
              <a:rPr lang="ja-JP" altLang="en-US" sz="1600" dirty="0"/>
              <a:t>・顧客情報の営業秘密該当性を認定</a:t>
            </a:r>
          </a:p>
          <a:p>
            <a:r>
              <a:rPr lang="ja-JP" altLang="en-US" sz="1600" dirty="0"/>
              <a:t>・不正取得・使用による損害賠償請求を認容</a:t>
            </a:r>
            <a:r>
              <a:rPr lang="en-US" altLang="ja-JP" sz="1600" dirty="0"/>
              <a:t>(</a:t>
            </a:r>
            <a:r>
              <a:rPr lang="ja-JP" altLang="en-US" sz="1600" dirty="0"/>
              <a:t>具体的金額は非公開部分あり</a:t>
            </a:r>
            <a:r>
              <a:rPr lang="en-US" altLang="ja-JP" sz="1600" dirty="0"/>
              <a:t>)</a:t>
            </a:r>
          </a:p>
          <a:p>
            <a:r>
              <a:rPr lang="ja-JP" altLang="en-US" sz="1600" dirty="0"/>
              <a:t>・営業社員が手帳等で管理していた顧客情報も会社帰属と判断</a:t>
            </a:r>
          </a:p>
        </p:txBody>
      </p:sp>
    </p:spTree>
    <p:extLst>
      <p:ext uri="{BB962C8B-B14F-4D97-AF65-F5344CB8AC3E}">
        <p14:creationId xmlns:p14="http://schemas.microsoft.com/office/powerpoint/2010/main" val="304653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AC1B-A779-0807-E540-12929259DA4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B961D27-F2BB-6287-2F32-5386358431C8}"/>
              </a:ext>
            </a:extLst>
          </p:cNvPr>
          <p:cNvSpPr txBox="1"/>
          <p:nvPr/>
        </p:nvSpPr>
        <p:spPr>
          <a:xfrm>
            <a:off x="213832" y="94081"/>
            <a:ext cx="11644493" cy="6986528"/>
          </a:xfrm>
          <a:prstGeom prst="rect">
            <a:avLst/>
          </a:prstGeom>
          <a:noFill/>
        </p:spPr>
        <p:txBody>
          <a:bodyPr wrap="square" rtlCol="0">
            <a:spAutoFit/>
          </a:bodyPr>
          <a:lstStyle/>
          <a:p>
            <a:r>
              <a:rPr lang="ja-JP" altLang="en-US" sz="1600" b="1" dirty="0"/>
              <a:t>営業秘密漏洩の代表的な判例</a:t>
            </a:r>
            <a:r>
              <a:rPr lang="en-US" altLang="ja-JP" sz="1600" b="1" dirty="0"/>
              <a:t>(</a:t>
            </a:r>
            <a:r>
              <a:rPr lang="ja-JP" altLang="en-US" sz="1600" b="1" dirty="0"/>
              <a:t>損害賠償額・結論含む</a:t>
            </a:r>
            <a:r>
              <a:rPr lang="en-US" altLang="ja-JP" sz="1600" b="1" dirty="0"/>
              <a:t>)</a:t>
            </a:r>
          </a:p>
          <a:p>
            <a:endParaRPr lang="ja-JP" altLang="en-US" sz="1600" dirty="0"/>
          </a:p>
          <a:p>
            <a:r>
              <a:rPr lang="en-US" altLang="ja-JP" sz="1600" b="1" dirty="0"/>
              <a:t>3. </a:t>
            </a:r>
            <a:r>
              <a:rPr lang="ja-JP" altLang="en-US" sz="1600" b="1" dirty="0"/>
              <a:t>靴木型事件</a:t>
            </a:r>
            <a:r>
              <a:rPr lang="en-US" altLang="ja-JP" sz="1600" b="1" dirty="0"/>
              <a:t>(</a:t>
            </a:r>
            <a:r>
              <a:rPr lang="ja-JP" altLang="en-US" sz="1600" b="1" dirty="0"/>
              <a:t>東京地裁平成</a:t>
            </a:r>
            <a:r>
              <a:rPr lang="en-US" altLang="ja-JP" sz="1600" b="1" dirty="0"/>
              <a:t>29</a:t>
            </a:r>
            <a:r>
              <a:rPr lang="ja-JP" altLang="en-US" sz="1600" b="1" dirty="0"/>
              <a:t>年</a:t>
            </a:r>
            <a:r>
              <a:rPr lang="en-US" altLang="ja-JP" sz="1600" b="1" dirty="0"/>
              <a:t>2</a:t>
            </a:r>
            <a:r>
              <a:rPr lang="ja-JP" altLang="en-US" sz="1600" b="1" dirty="0"/>
              <a:t>月</a:t>
            </a:r>
            <a:r>
              <a:rPr lang="en-US" altLang="ja-JP" sz="1600" b="1" dirty="0"/>
              <a:t>9</a:t>
            </a:r>
            <a:r>
              <a:rPr lang="ja-JP" altLang="en-US" sz="1600" b="1" dirty="0"/>
              <a:t>日、知財高判平成</a:t>
            </a:r>
            <a:r>
              <a:rPr lang="en-US" altLang="ja-JP" sz="1600" b="1" dirty="0"/>
              <a:t>30</a:t>
            </a:r>
            <a:r>
              <a:rPr lang="ja-JP" altLang="en-US" sz="1600" b="1" dirty="0"/>
              <a:t>年</a:t>
            </a:r>
            <a:r>
              <a:rPr lang="en-US" altLang="ja-JP" sz="1600" b="1" dirty="0"/>
              <a:t>1</a:t>
            </a:r>
            <a:r>
              <a:rPr lang="ja-JP" altLang="en-US" sz="1600" b="1" dirty="0"/>
              <a:t>月</a:t>
            </a:r>
            <a:r>
              <a:rPr lang="en-US" altLang="ja-JP" sz="1600" b="1" dirty="0"/>
              <a:t>24</a:t>
            </a:r>
            <a:r>
              <a:rPr lang="ja-JP" altLang="en-US" sz="1600" b="1" dirty="0"/>
              <a:t>日</a:t>
            </a:r>
            <a:r>
              <a:rPr lang="en-US" altLang="ja-JP" sz="1600" b="1" dirty="0"/>
              <a:t>)</a:t>
            </a:r>
          </a:p>
          <a:p>
            <a:r>
              <a:rPr lang="ja-JP" altLang="en-US" sz="1600" b="1" dirty="0"/>
              <a:t>事件概要</a:t>
            </a:r>
            <a:endParaRPr lang="ja-JP" altLang="en-US" sz="1600" dirty="0"/>
          </a:p>
          <a:p>
            <a:r>
              <a:rPr lang="ja-JP" altLang="en-US" sz="1600" dirty="0"/>
              <a:t>・靴製造用の木型設計情報</a:t>
            </a:r>
            <a:r>
              <a:rPr lang="en-US" altLang="ja-JP" sz="1600" dirty="0"/>
              <a:t>(3D</a:t>
            </a:r>
            <a:r>
              <a:rPr lang="ja-JP" altLang="en-US" sz="1600" dirty="0"/>
              <a:t>データ</a:t>
            </a:r>
            <a:r>
              <a:rPr lang="en-US" altLang="ja-JP" sz="1600" dirty="0"/>
              <a:t>)</a:t>
            </a:r>
            <a:r>
              <a:rPr lang="ja-JP" altLang="en-US" sz="1600" dirty="0"/>
              <a:t>の不正使用</a:t>
            </a:r>
          </a:p>
          <a:p>
            <a:r>
              <a:rPr lang="ja-JP" altLang="en-US" sz="1600" dirty="0"/>
              <a:t>・元従業員が退職時に</a:t>
            </a:r>
            <a:r>
              <a:rPr lang="en-US" altLang="ja-JP" sz="1600" dirty="0"/>
              <a:t>USB</a:t>
            </a:r>
            <a:r>
              <a:rPr lang="ja-JP" altLang="en-US" sz="1600" dirty="0"/>
              <a:t>メモリで設計データを持ち出し、競合他社で使用</a:t>
            </a:r>
          </a:p>
          <a:p>
            <a:r>
              <a:rPr lang="ja-JP" altLang="en-US" sz="1600" b="1" dirty="0"/>
              <a:t>損害賠償と結論</a:t>
            </a:r>
            <a:endParaRPr lang="ja-JP" altLang="en-US" sz="1600" dirty="0"/>
          </a:p>
          <a:p>
            <a:r>
              <a:rPr lang="ja-JP" altLang="en-US" sz="1600" dirty="0"/>
              <a:t>・一審・二審とも営業秘密該当性を認定</a:t>
            </a:r>
          </a:p>
          <a:p>
            <a:r>
              <a:rPr lang="ja-JP" altLang="en-US" sz="1600" b="1" dirty="0"/>
              <a:t>差止請求認容</a:t>
            </a:r>
            <a:r>
              <a:rPr lang="en-US" altLang="ja-JP" sz="1600" dirty="0"/>
              <a:t>:</a:t>
            </a:r>
            <a:r>
              <a:rPr lang="ja-JP" altLang="en-US" sz="1600" dirty="0"/>
              <a:t>営業秘密の使用・開示禁止</a:t>
            </a:r>
          </a:p>
          <a:p>
            <a:r>
              <a:rPr lang="ja-JP" altLang="en-US" sz="1600" b="1" dirty="0"/>
              <a:t>損害賠償</a:t>
            </a:r>
            <a:endParaRPr lang="en-US" altLang="ja-JP" sz="1600" b="1" dirty="0"/>
          </a:p>
          <a:p>
            <a:r>
              <a:rPr lang="ja-JP" altLang="en-US" sz="1600" b="1" dirty="0"/>
              <a:t>・</a:t>
            </a:r>
            <a:r>
              <a:rPr lang="ja-JP" altLang="en-US" sz="1600" dirty="0"/>
              <a:t>不正競争防止法に基づく賠償を命令</a:t>
            </a:r>
            <a:r>
              <a:rPr lang="en-US" altLang="ja-JP" sz="1600" dirty="0"/>
              <a:t>(</a:t>
            </a:r>
            <a:r>
              <a:rPr lang="ja-JP" altLang="en-US" sz="1600" dirty="0"/>
              <a:t>詳細金額は訴訟記録参照</a:t>
            </a:r>
            <a:r>
              <a:rPr lang="en-US" altLang="ja-JP" sz="1600" dirty="0"/>
              <a:t>)</a:t>
            </a:r>
          </a:p>
          <a:p>
            <a:r>
              <a:rPr lang="ja-JP" altLang="en-US" sz="1600" dirty="0"/>
              <a:t>・非公知性</a:t>
            </a:r>
            <a:r>
              <a:rPr lang="en-US" altLang="ja-JP" sz="1600" dirty="0"/>
              <a:t>:</a:t>
            </a:r>
            <a:r>
              <a:rPr lang="ja-JP" altLang="en-US" sz="1600" dirty="0"/>
              <a:t>市販品から木型を再現不可能と判断</a:t>
            </a:r>
          </a:p>
          <a:p>
            <a:endParaRPr lang="en-US" altLang="ja-JP" sz="1600" b="1" dirty="0"/>
          </a:p>
          <a:p>
            <a:r>
              <a:rPr lang="en-US" altLang="ja-JP" sz="1600" b="1" dirty="0"/>
              <a:t>4. </a:t>
            </a:r>
            <a:r>
              <a:rPr lang="ja-JP" altLang="en-US" sz="1600" b="1" dirty="0"/>
              <a:t>ベイカレント</a:t>
            </a:r>
            <a:r>
              <a:rPr lang="en-US" altLang="ja-JP" sz="1600" b="1" dirty="0"/>
              <a:t>(</a:t>
            </a:r>
            <a:r>
              <a:rPr lang="ja-JP" altLang="en-US" sz="1600" b="1" dirty="0"/>
              <a:t>フューチャー</a:t>
            </a:r>
            <a:r>
              <a:rPr lang="en-US" altLang="ja-JP" sz="1600" b="1" dirty="0"/>
              <a:t>)</a:t>
            </a:r>
            <a:r>
              <a:rPr lang="ja-JP" altLang="en-US" sz="1600" b="1" dirty="0"/>
              <a:t>事件</a:t>
            </a:r>
            <a:r>
              <a:rPr lang="en-US" altLang="ja-JP" sz="1600" b="1" dirty="0"/>
              <a:t>(</a:t>
            </a:r>
            <a:r>
              <a:rPr lang="ja-JP" altLang="en-US" sz="1600" b="1" dirty="0"/>
              <a:t>東京地裁平成</a:t>
            </a:r>
            <a:r>
              <a:rPr lang="en-US" altLang="ja-JP" sz="1600" b="1" dirty="0"/>
              <a:t>31</a:t>
            </a:r>
            <a:r>
              <a:rPr lang="ja-JP" altLang="en-US" sz="1600" b="1" dirty="0"/>
              <a:t>年・刑事</a:t>
            </a:r>
            <a:r>
              <a:rPr lang="en-US" altLang="ja-JP" sz="1600" b="1" dirty="0"/>
              <a:t>)</a:t>
            </a:r>
          </a:p>
          <a:p>
            <a:r>
              <a:rPr lang="ja-JP" altLang="en-US" sz="1600" b="1" dirty="0"/>
              <a:t>事件概要</a:t>
            </a:r>
            <a:endParaRPr lang="ja-JP" altLang="en-US" sz="1600" dirty="0"/>
          </a:p>
          <a:p>
            <a:r>
              <a:rPr lang="ja-JP" altLang="en-US" sz="1600" dirty="0"/>
              <a:t>・フューチャー子会社の元役員が社員名簿・単価情報をベイカレントに持ち込み</a:t>
            </a:r>
          </a:p>
          <a:p>
            <a:r>
              <a:rPr lang="ja-JP" altLang="en-US" sz="1600" dirty="0"/>
              <a:t>・引き抜き目的での不正取得</a:t>
            </a:r>
          </a:p>
          <a:p>
            <a:r>
              <a:rPr lang="ja-JP" altLang="en-US" sz="1600" b="1" dirty="0"/>
              <a:t>結論</a:t>
            </a:r>
            <a:endParaRPr lang="ja-JP" altLang="en-US" sz="1600" dirty="0"/>
          </a:p>
          <a:p>
            <a:r>
              <a:rPr lang="ja-JP" altLang="en-US" sz="1600" b="1" dirty="0"/>
              <a:t>刑事事件</a:t>
            </a:r>
            <a:endParaRPr lang="en-US" altLang="ja-JP" sz="1600" b="1" dirty="0"/>
          </a:p>
          <a:p>
            <a:r>
              <a:rPr lang="ja-JP" altLang="en-US" sz="1600" b="1" dirty="0"/>
              <a:t>・</a:t>
            </a:r>
            <a:r>
              <a:rPr lang="ja-JP" altLang="en-US" sz="1600" dirty="0"/>
              <a:t>元役員を不正競争防止法違反で逮捕・起訴</a:t>
            </a:r>
          </a:p>
          <a:p>
            <a:r>
              <a:rPr lang="ja-JP" altLang="en-US" sz="1600" b="1" dirty="0"/>
              <a:t>民事訴訟</a:t>
            </a:r>
            <a:endParaRPr lang="en-US" altLang="ja-JP" sz="1600" b="1" dirty="0"/>
          </a:p>
          <a:p>
            <a:r>
              <a:rPr lang="ja-JP" altLang="en-US" sz="1600" b="1" dirty="0"/>
              <a:t>・</a:t>
            </a:r>
            <a:r>
              <a:rPr lang="ja-JP" altLang="en-US" sz="1600" dirty="0"/>
              <a:t>損害賠償</a:t>
            </a:r>
            <a:r>
              <a:rPr lang="en-US" altLang="ja-JP" sz="1600" b="1" dirty="0"/>
              <a:t>1</a:t>
            </a:r>
            <a:r>
              <a:rPr lang="ja-JP" altLang="en-US" sz="1600" b="1" dirty="0"/>
              <a:t>億</a:t>
            </a:r>
            <a:r>
              <a:rPr lang="en-US" altLang="ja-JP" sz="1600" b="1" dirty="0"/>
              <a:t>6,500</a:t>
            </a:r>
            <a:r>
              <a:rPr lang="ja-JP" altLang="en-US" sz="1600" b="1" dirty="0"/>
              <a:t>万円</a:t>
            </a:r>
            <a:r>
              <a:rPr lang="ja-JP" altLang="en-US" sz="1600" dirty="0"/>
              <a:t>請求</a:t>
            </a:r>
            <a:r>
              <a:rPr lang="en-US" altLang="ja-JP" sz="1600" dirty="0"/>
              <a:t>(</a:t>
            </a:r>
            <a:r>
              <a:rPr lang="ja-JP" altLang="en-US" sz="1600" dirty="0"/>
              <a:t>係争中</a:t>
            </a:r>
            <a:r>
              <a:rPr lang="en-US" altLang="ja-JP" sz="1600" dirty="0"/>
              <a:t>)</a:t>
            </a:r>
          </a:p>
          <a:p>
            <a:r>
              <a:rPr lang="ja-JP" altLang="en-US" sz="1600" dirty="0"/>
              <a:t>・営業秘密漏洩の刑事罰適用事例として注目</a:t>
            </a:r>
          </a:p>
          <a:p>
            <a:r>
              <a:rPr lang="ja-JP" altLang="en-US" sz="1600" b="1" dirty="0"/>
              <a:t>実務への示唆</a:t>
            </a:r>
            <a:endParaRPr lang="ja-JP" altLang="en-US" sz="1600" dirty="0"/>
          </a:p>
          <a:p>
            <a:r>
              <a:rPr lang="ja-JP" altLang="en-US" sz="1600" dirty="0"/>
              <a:t>・高額な損害賠償リスク</a:t>
            </a:r>
            <a:r>
              <a:rPr lang="en-US" altLang="ja-JP" sz="1600" dirty="0"/>
              <a:t>(</a:t>
            </a:r>
            <a:r>
              <a:rPr lang="ja-JP" altLang="en-US" sz="1600" dirty="0"/>
              <a:t>数億円～数百億円規模</a:t>
            </a:r>
            <a:r>
              <a:rPr lang="en-US" altLang="ja-JP" sz="1600" dirty="0"/>
              <a:t>)</a:t>
            </a:r>
          </a:p>
          <a:p>
            <a:r>
              <a:rPr lang="ja-JP" altLang="en-US" sz="1600" dirty="0"/>
              <a:t>・刑事罰の可能性</a:t>
            </a:r>
            <a:r>
              <a:rPr lang="en-US" altLang="ja-JP" sz="1600" dirty="0"/>
              <a:t>(</a:t>
            </a:r>
            <a:r>
              <a:rPr lang="ja-JP" altLang="en-US" sz="1600" dirty="0"/>
              <a:t>懲役刑・罰金刑</a:t>
            </a:r>
            <a:r>
              <a:rPr lang="en-US" altLang="ja-JP" sz="1600" dirty="0"/>
              <a:t>)</a:t>
            </a:r>
          </a:p>
          <a:p>
            <a:r>
              <a:rPr lang="ja-JP" altLang="en-US" sz="1600" dirty="0"/>
              <a:t>・予防策</a:t>
            </a:r>
            <a:r>
              <a:rPr lang="en-US" altLang="ja-JP" sz="1600" dirty="0"/>
              <a:t>:</a:t>
            </a:r>
            <a:r>
              <a:rPr lang="ja-JP" altLang="en-US" sz="1600" dirty="0"/>
              <a:t>秘密保持契約、アクセス制限、退職時の誓約書、定期的な社員教育</a:t>
            </a:r>
          </a:p>
          <a:p>
            <a:endParaRPr kumimoji="1" lang="ja-JP" altLang="en-US" sz="1600" dirty="0"/>
          </a:p>
        </p:txBody>
      </p:sp>
    </p:spTree>
    <p:extLst>
      <p:ext uri="{BB962C8B-B14F-4D97-AF65-F5344CB8AC3E}">
        <p14:creationId xmlns:p14="http://schemas.microsoft.com/office/powerpoint/2010/main" val="2214790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577836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1781</Words>
  <Application>Microsoft Office PowerPoint</Application>
  <PresentationFormat>ワイド画面</PresentationFormat>
  <Paragraphs>73</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Yukihiro Kuriaki</dc:creator>
  <cp:lastModifiedBy>Yukihiro Kuriaki</cp:lastModifiedBy>
  <cp:revision>1</cp:revision>
  <dcterms:created xsi:type="dcterms:W3CDTF">2026-01-04T02:53:00Z</dcterms:created>
  <dcterms:modified xsi:type="dcterms:W3CDTF">2026-01-04T03:14:44Z</dcterms:modified>
</cp:coreProperties>
</file>